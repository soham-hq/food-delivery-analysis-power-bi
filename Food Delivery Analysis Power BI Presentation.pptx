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16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484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4381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429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471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501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292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691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3361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7833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921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3843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4108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5553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9844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7327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618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233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04618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  <p:sldLayoutId id="2147483828" r:id="rId12"/>
    <p:sldLayoutId id="2147483829" r:id="rId13"/>
    <p:sldLayoutId id="2147483830" r:id="rId14"/>
    <p:sldLayoutId id="2147483831" r:id="rId15"/>
    <p:sldLayoutId id="2147483832" r:id="rId16"/>
    <p:sldLayoutId id="214748383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" y="4516635"/>
            <a:ext cx="11029950" cy="6381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1025" y="2236440"/>
            <a:ext cx="6750843" cy="6704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sz="4800" b="0" i="0" u="none">
                <a:solidFill>
                  <a:srgbClr val="F8FAFC"/>
                </a:solidFill>
                <a:latin typeface="Plus Jakarta Sans ExtraBold"/>
              </a:rPr>
              <a:t>Food Delivery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1025" y="3097410"/>
            <a:ext cx="8096250" cy="616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 dirty="0">
                <a:solidFill>
                  <a:srgbClr val="94A3B8"/>
                </a:solidFill>
                <a:latin typeface="Plus Jakarta Sans"/>
              </a:rPr>
              <a:t>An end-to-end business intelligence study utilizing ChatGPT dataset generation, Power Query  pipelines, advanced DAX modeling, and interactive Power BI dashboards.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1025" y="4754760"/>
            <a:ext cx="13906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8BDF8"/>
                </a:solidFill>
                <a:latin typeface="Plus Jakarta Sans SemiBold"/>
              </a:rPr>
              <a:t>Data Cleaning &amp; Prep</a:t>
            </a:r>
            <a:r>
              <a:rPr sz="1200" b="0" i="0" u="none">
                <a:solidFill>
                  <a:srgbClr val="F8FAFC"/>
                </a:solidFill>
                <a:latin typeface="Plus Jakarta Sans"/>
              </a:rPr>
              <a:t> </a:t>
            </a:r>
            <a:r>
              <a:rPr sz="1200" b="0" i="0" u="none">
                <a:solidFill>
                  <a:srgbClr val="F8FAFC"/>
                </a:solidFill>
                <a:latin typeface="Plus Jakarta Sans SemiBold"/>
              </a:rPr>
              <a:t>Saad Shaikh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57425" y="4754760"/>
            <a:ext cx="124777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8BDF8"/>
                </a:solidFill>
                <a:latin typeface="Plus Jakarta Sans SemiBold"/>
              </a:rPr>
              <a:t>DAX &amp; Analysis</a:t>
            </a:r>
            <a:r>
              <a:rPr sz="1200" b="0" i="0" u="none">
                <a:solidFill>
                  <a:srgbClr val="F8FAFC"/>
                </a:solidFill>
                <a:latin typeface="Plus Jakarta Sans"/>
              </a:rPr>
              <a:t> </a:t>
            </a:r>
            <a:r>
              <a:rPr sz="1200" b="0" i="0" u="none">
                <a:solidFill>
                  <a:srgbClr val="F8FAFC"/>
                </a:solidFill>
                <a:latin typeface="Plus Jakarta Sans SemiBold"/>
              </a:rPr>
              <a:t>Rechal Parshee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0950" y="4754760"/>
            <a:ext cx="15049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8BDF8"/>
                </a:solidFill>
                <a:latin typeface="Plus Jakarta Sans SemiBold"/>
              </a:rPr>
              <a:t>Dashboard &amp; UI</a:t>
            </a:r>
            <a:r>
              <a:rPr sz="1200" b="0" i="0" u="none">
                <a:solidFill>
                  <a:srgbClr val="F8FAFC"/>
                </a:solidFill>
                <a:latin typeface="Plus Jakarta Sans"/>
              </a:rPr>
              <a:t> </a:t>
            </a:r>
            <a:r>
              <a:rPr sz="1200" b="0" i="0" u="none">
                <a:solidFill>
                  <a:srgbClr val="F8FAFC"/>
                </a:solidFill>
                <a:latin typeface="Plus Jakarta Sans SemiBold"/>
              </a:rPr>
              <a:t>Soham Deshmukh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083593"/>
            <a:ext cx="5372100" cy="334803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8875" y="2083593"/>
            <a:ext cx="5372100" cy="334803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76300" y="2378868"/>
            <a:ext cx="5020627" cy="266700"/>
          </a:xfrm>
          <a:prstGeom prst="rect">
            <a:avLst/>
          </a:prstGeom>
          <a:noFill/>
        </p:spPr>
        <p:txBody>
          <a:bodyPr wrap="square" lIns="34290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F8FAFC"/>
                </a:solidFill>
                <a:latin typeface="Plus Jakarta Sans SemiBold"/>
              </a:rPr>
              <a:t>Responsibilities &amp; Execution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34150" y="2378868"/>
            <a:ext cx="5020627" cy="266700"/>
          </a:xfrm>
          <a:prstGeom prst="rect">
            <a:avLst/>
          </a:prstGeom>
          <a:noFill/>
        </p:spPr>
        <p:txBody>
          <a:bodyPr wrap="square" lIns="314325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F8FAFC"/>
                </a:solidFill>
                <a:latin typeface="Plus Jakarta Sans SemiBold"/>
              </a:rPr>
              <a:t>Technology Tools Applied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" y="2416968"/>
            <a:ext cx="266700" cy="2095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43000" y="2797968"/>
            <a:ext cx="4514850" cy="776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>
                <a:solidFill>
                  <a:srgbClr val="CBD5E1"/>
                </a:solidFill>
                <a:latin typeface="Plus Jakarta Sans"/>
              </a:rPr>
              <a:t>Saad Shaikh:</a:t>
            </a:r>
            <a:r>
              <a:rPr sz="1275" b="0" i="0" u="none">
                <a:solidFill>
                  <a:srgbClr val="CBD5E1"/>
                </a:solidFill>
                <a:latin typeface="Plus Jakarta Sans"/>
              </a:rPr>
              <a:t> Dataset ingestion, structure alignment, duplicate elimination, and missing value handling via Power Query.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3950" y="3546605"/>
            <a:ext cx="4514850" cy="4919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 dirty="0">
                <a:solidFill>
                  <a:srgbClr val="CBD5E1"/>
                </a:solidFill>
                <a:latin typeface="Plus Jakarta Sans"/>
              </a:rPr>
              <a:t>Rechal </a:t>
            </a:r>
            <a:r>
              <a:rPr sz="1275" b="1" i="0" u="none" dirty="0" err="1">
                <a:solidFill>
                  <a:srgbClr val="CBD5E1"/>
                </a:solidFill>
                <a:latin typeface="Plus Jakarta Sans"/>
              </a:rPr>
              <a:t>Parshee</a:t>
            </a:r>
            <a:r>
              <a:rPr sz="1275" b="1" i="0" u="none" dirty="0">
                <a:solidFill>
                  <a:srgbClr val="CBD5E1"/>
                </a:solidFill>
                <a:latin typeface="Plus Jakarta Sans"/>
              </a:rPr>
              <a:t>:</a:t>
            </a:r>
            <a:r>
              <a:rPr sz="1275" b="0" i="0" u="none" dirty="0">
                <a:solidFill>
                  <a:srgbClr val="CBD5E1"/>
                </a:solidFill>
                <a:latin typeface="Plus Jakarta Sans"/>
              </a:rPr>
              <a:t> Data modeling, time-intelligence DAX formulation, and statistical relationship definitions.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359473"/>
            <a:ext cx="4514850" cy="4919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 dirty="0">
                <a:solidFill>
                  <a:srgbClr val="CBD5E1"/>
                </a:solidFill>
                <a:latin typeface="Plus Jakarta Sans"/>
              </a:rPr>
              <a:t>Soham Deshmukh:</a:t>
            </a:r>
            <a:r>
              <a:rPr sz="1275" b="0" i="0" u="none" dirty="0">
                <a:solidFill>
                  <a:srgbClr val="CBD5E1"/>
                </a:solidFill>
                <a:latin typeface="Plus Jakarta Sans"/>
              </a:rPr>
              <a:t> UX visual architecture, KPI widget configuration, and final Power BI dashboard publishing.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4150" y="2416968"/>
            <a:ext cx="238125" cy="2095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00850" y="2797968"/>
            <a:ext cx="4514850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>
                <a:solidFill>
                  <a:srgbClr val="CBD5E1"/>
                </a:solidFill>
                <a:latin typeface="Plus Jakarta Sans"/>
              </a:rPr>
              <a:t>ChatGPT:</a:t>
            </a:r>
            <a:r>
              <a:rPr sz="1275" b="0" i="0" u="none">
                <a:solidFill>
                  <a:srgbClr val="CBD5E1"/>
                </a:solidFill>
                <a:latin typeface="Plus Jakarta Sans"/>
              </a:rPr>
              <a:t> Prompt-engineered initial food delivery ordering logs and synthetic customer transaction datasets.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00850" y="3449240"/>
            <a:ext cx="4514850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>
                <a:solidFill>
                  <a:srgbClr val="CBD5E1"/>
                </a:solidFill>
                <a:latin typeface="Plus Jakarta Sans"/>
              </a:rPr>
              <a:t>Power Query:</a:t>
            </a:r>
            <a:r>
              <a:rPr sz="1275" b="0" i="0" u="none">
                <a:solidFill>
                  <a:srgbClr val="CBD5E1"/>
                </a:solidFill>
                <a:latin typeface="Plus Jakarta Sans"/>
              </a:rPr>
              <a:t> Automated ETL pipeline to cleanse data types, column names, and missing attributes.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00850" y="4100512"/>
            <a:ext cx="4514850" cy="776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>
                <a:solidFill>
                  <a:srgbClr val="CBD5E1"/>
                </a:solidFill>
                <a:latin typeface="Plus Jakarta Sans"/>
              </a:rPr>
              <a:t>Power BI &amp; DAX:</a:t>
            </a:r>
            <a:r>
              <a:rPr sz="1275" b="0" i="0" u="none">
                <a:solidFill>
                  <a:srgbClr val="CBD5E1"/>
                </a:solidFill>
                <a:latin typeface="Plus Jakarta Sans"/>
              </a:rPr>
              <a:t> Analytical calculation engine creating measures for real-time executive dashboard decision-making.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6300" y="2797968"/>
            <a:ext cx="1333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F97316"/>
                </a:solidFill>
                <a:latin typeface="Plus Jakarta Sans"/>
              </a:rPr>
              <a:t>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250" y="3573065"/>
            <a:ext cx="1333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 dirty="0">
                <a:solidFill>
                  <a:srgbClr val="F97316"/>
                </a:solidFill>
                <a:latin typeface="Plus Jakarta Sans"/>
              </a:rPr>
              <a:t>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300" y="4359473"/>
            <a:ext cx="1333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F97316"/>
                </a:solidFill>
                <a:latin typeface="Plus Jakarta Sans"/>
              </a:rPr>
              <a:t>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4150" y="2797968"/>
            <a:ext cx="1333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F97316"/>
                </a:solidFill>
                <a:latin typeface="Plus Jakarta Sans"/>
              </a:rPr>
              <a:t>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4150" y="3449240"/>
            <a:ext cx="1333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F97316"/>
                </a:solidFill>
                <a:latin typeface="Plus Jakarta Sans"/>
              </a:rPr>
              <a:t>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4150" y="4100512"/>
            <a:ext cx="1333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F97316"/>
                </a:solidFill>
                <a:latin typeface="Plus Jakarta Sans"/>
              </a:rPr>
              <a:t>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1025" y="485775"/>
            <a:ext cx="11581447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F8FAFC"/>
                </a:solidFill>
                <a:latin typeface="Plus Jakarta Sans"/>
              </a:rPr>
              <a:t>Team Roles &amp; Project Stack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1025" y="914400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" y="2247900"/>
            <a:ext cx="3524250" cy="301927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3875" y="2247900"/>
            <a:ext cx="3524250" cy="301927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6725" y="2247900"/>
            <a:ext cx="3524250" cy="301927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300" y="2543175"/>
            <a:ext cx="514350" cy="5143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76300" y="3209925"/>
            <a:ext cx="3080385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F8FAFC"/>
                </a:solidFill>
                <a:latin typeface="Plus Jakarta Sans SemiBold"/>
              </a:rPr>
              <a:t>1. Dataset Generation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3600450"/>
            <a:ext cx="2933700" cy="13714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94A3B8"/>
                </a:solidFill>
                <a:latin typeface="Plus Jakarta Sans"/>
              </a:rPr>
              <a:t>Generated raw food delivery data via ChatGPT simulating real-world order IDs, order dates, cities, delivery times, customer ratings, and restaurant categories.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9150" y="2543175"/>
            <a:ext cx="514350" cy="5143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29150" y="3209925"/>
            <a:ext cx="3080385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F8FAFC"/>
                </a:solidFill>
                <a:latin typeface="Plus Jakarta Sans SemiBold"/>
              </a:rPr>
              <a:t>2. Power Query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9150" y="3600450"/>
            <a:ext cx="2933700" cy="13714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94A3B8"/>
                </a:solidFill>
                <a:latin typeface="Plus Jakarta Sans"/>
              </a:rPr>
              <a:t>Imported dataset into Power BI Desktop. Purged duplicates, sanitized null values, and standardized text casing across categorical columns.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0" y="2543175"/>
            <a:ext cx="514350" cy="5143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82000" y="3209925"/>
            <a:ext cx="3080385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F8FAFC"/>
                </a:solidFill>
                <a:latin typeface="Plus Jakarta Sans SemiBold"/>
              </a:rPr>
              <a:t>3. Schema Optimization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0" y="3600450"/>
            <a:ext cx="2933700" cy="13714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94A3B8"/>
                </a:solidFill>
                <a:latin typeface="Plus Jakarta Sans"/>
              </a:rPr>
              <a:t>Converted date-time formats and numeric types. Created clear dimension mappings for Cities, Categories, and Restaurants ready for DAX logic.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0600" y="2686050"/>
            <a:ext cx="285750" cy="2286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72025" y="2686050"/>
            <a:ext cx="228600" cy="2286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24875" y="2686050"/>
            <a:ext cx="228600" cy="228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81025" y="485775"/>
            <a:ext cx="11581447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F8FAFC"/>
                </a:solidFill>
                <a:latin typeface="Plus Jakarta Sans"/>
              </a:rPr>
              <a:t>Data Ingestion &amp; Preprocessing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1025" y="914400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85775" y="485775"/>
            <a:ext cx="5390673" cy="8572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F8FAFC"/>
                </a:solidFill>
                <a:latin typeface="Plus Jakarta Sans"/>
              </a:rPr>
              <a:t>Interactive Power BI Dashboard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9525"/>
            <a:ext cx="6086475" cy="6858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85775" y="1343025"/>
            <a:ext cx="74265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CD08358-EB7E-2DDA-4A19-7217FC123F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166"/>
            <a:ext cx="12192000" cy="678966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7CF0346-7C08-8E3D-359F-079C057094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9525" y="34166"/>
            <a:ext cx="12192000" cy="678966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" y="1740544"/>
            <a:ext cx="5372100" cy="403398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8875" y="1740544"/>
            <a:ext cx="5372100" cy="403398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4150" y="3155900"/>
            <a:ext cx="4781550" cy="18929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76300" y="2035819"/>
            <a:ext cx="5020627" cy="266700"/>
          </a:xfrm>
          <a:prstGeom prst="rect">
            <a:avLst/>
          </a:prstGeom>
          <a:noFill/>
        </p:spPr>
        <p:txBody>
          <a:bodyPr wrap="square" lIns="238125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F8FAFC"/>
                </a:solidFill>
                <a:latin typeface="Plus Jakarta Sans SemiBold"/>
              </a:rPr>
              <a:t>Key Performance Measures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2454919"/>
            <a:ext cx="478155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94A3B8"/>
                </a:solidFill>
                <a:latin typeface="Plus Jakarta Sans"/>
              </a:rPr>
              <a:t>Custom DAX formulas were designed to monitor operational performance metrics dynamically across slicers: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4150" y="2035819"/>
            <a:ext cx="5020627" cy="266700"/>
          </a:xfrm>
          <a:prstGeom prst="rect">
            <a:avLst/>
          </a:prstGeom>
          <a:noFill/>
        </p:spPr>
        <p:txBody>
          <a:bodyPr wrap="square" lIns="34290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F8FAFC"/>
                </a:solidFill>
                <a:latin typeface="Plus Jakarta Sans SemiBold"/>
              </a:rPr>
              <a:t>Time Intelligence DAX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4150" y="2454919"/>
            <a:ext cx="478155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94A3B8"/>
                </a:solidFill>
                <a:latin typeface="Plus Jakarta Sans"/>
              </a:rPr>
              <a:t>Revenue Growth % formulation using VAR offset windowing: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300" y="2073919"/>
            <a:ext cx="161925" cy="2095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43000" y="3525440"/>
            <a:ext cx="4514850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>
                <a:solidFill>
                  <a:srgbClr val="CBD5E1"/>
                </a:solidFill>
                <a:latin typeface="Plus Jakarta Sans"/>
              </a:rPr>
              <a:t>Total Orders:</a:t>
            </a:r>
            <a:r>
              <a:rPr sz="1275" b="0" i="0" u="none">
                <a:solidFill>
                  <a:srgbClr val="CBD5E1"/>
                </a:solidFill>
                <a:latin typeface="Plus Jakarta Sans"/>
              </a:rPr>
              <a:t> Count of unique Order IDs (`COUNT(Orders[Order ID])`).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176712"/>
            <a:ext cx="4514850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>
                <a:solidFill>
                  <a:srgbClr val="CBD5E1"/>
                </a:solidFill>
                <a:latin typeface="Plus Jakarta Sans"/>
              </a:rPr>
              <a:t>Total Revenue:</a:t>
            </a:r>
            <a:r>
              <a:rPr sz="1275" b="0" i="0" u="none">
                <a:solidFill>
                  <a:srgbClr val="CBD5E1"/>
                </a:solidFill>
                <a:latin typeface="Plus Jakarta Sans"/>
              </a:rPr>
              <a:t> Aggregate sales (`SUM(Orders[Order Value])`).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827984"/>
            <a:ext cx="4514850" cy="25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>
                <a:solidFill>
                  <a:srgbClr val="CBD5E1"/>
                </a:solidFill>
                <a:latin typeface="Plus Jakarta Sans"/>
              </a:rPr>
              <a:t>Average Delivery Time:</a:t>
            </a:r>
            <a:r>
              <a:rPr sz="1275" b="0" i="0" u="none">
                <a:solidFill>
                  <a:srgbClr val="CBD5E1"/>
                </a:solidFill>
                <a:latin typeface="Plus Jakarta Sans"/>
              </a:rPr>
              <a:t> Mean transit time in minutes.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220295"/>
            <a:ext cx="4514850" cy="25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>
                <a:solidFill>
                  <a:srgbClr val="CBD5E1"/>
                </a:solidFill>
                <a:latin typeface="Plus Jakarta Sans"/>
              </a:rPr>
              <a:t>Average Rating:</a:t>
            </a:r>
            <a:r>
              <a:rPr sz="1275" b="0" i="0" u="none">
                <a:solidFill>
                  <a:srgbClr val="CBD5E1"/>
                </a:solidFill>
                <a:latin typeface="Plus Jakarta Sans"/>
              </a:rPr>
              <a:t> Customer satisfaction score out of 5.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4150" y="2073919"/>
            <a:ext cx="266700" cy="2095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734175" y="3588246"/>
            <a:ext cx="12192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F97316"/>
                </a:solidFill>
                <a:latin typeface="JetBrains Mono SemiBold"/>
              </a:rPr>
              <a:t>Revenue Growth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1975" y="3588246"/>
            <a:ext cx="2286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F97316"/>
                </a:solidFill>
                <a:latin typeface="JetBrains Mono SemiBold"/>
              </a:rPr>
              <a:t>VAR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34175" y="3801516"/>
            <a:ext cx="2286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F97316"/>
                </a:solidFill>
                <a:latin typeface="JetBrains Mono SemiBold"/>
              </a:rPr>
              <a:t>VAR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0575" y="3801516"/>
            <a:ext cx="6858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F59E0B"/>
                </a:solidFill>
                <a:latin typeface="JetBrains Mono"/>
              </a:rPr>
              <a:t>CALCULATE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34175" y="4014787"/>
            <a:ext cx="4572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F59E0B"/>
                </a:solidFill>
                <a:latin typeface="JetBrains Mono"/>
              </a:rPr>
              <a:t>OFFSET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72375" y="4014787"/>
            <a:ext cx="5334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F59E0B"/>
                </a:solidFill>
                <a:latin typeface="JetBrains Mono"/>
              </a:rPr>
              <a:t>ORDERBY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58375" y="4014787"/>
            <a:ext cx="2286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F97316"/>
                </a:solidFill>
                <a:latin typeface="JetBrains Mono SemiBold"/>
              </a:rPr>
              <a:t>ASC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67975" y="4014787"/>
            <a:ext cx="4572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F97316"/>
                </a:solidFill>
                <a:latin typeface="JetBrains Mono SemiBold"/>
              </a:rPr>
              <a:t>RETURN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34175" y="4228058"/>
            <a:ext cx="4572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F59E0B"/>
                </a:solidFill>
                <a:latin typeface="JetBrains Mono"/>
              </a:rPr>
              <a:t>DIVIDE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6300" y="3525440"/>
            <a:ext cx="1333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F97316"/>
                </a:solidFill>
                <a:latin typeface="Plus Jakarta Sans"/>
              </a:rPr>
              <a:t>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6300" y="4176712"/>
            <a:ext cx="1333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F97316"/>
                </a:solidFill>
                <a:latin typeface="Plus Jakarta Sans"/>
              </a:rPr>
              <a:t>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6300" y="4827984"/>
            <a:ext cx="1333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F97316"/>
                </a:solidFill>
                <a:latin typeface="Plus Jakarta Sans"/>
              </a:rPr>
              <a:t>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6300" y="5220295"/>
            <a:ext cx="1333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F97316"/>
                </a:solidFill>
                <a:latin typeface="Plus Jakarta Sans"/>
              </a:rPr>
              <a:t>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1025" y="485775"/>
            <a:ext cx="11581447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F8FAFC"/>
                </a:solidFill>
                <a:latin typeface="Plus Jakarta Sans"/>
              </a:rPr>
              <a:t>DAX Measures &amp; Logic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1025" y="914400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1485" y="2366962"/>
            <a:ext cx="3099494" cy="12954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1480" y="2366962"/>
            <a:ext cx="3099494" cy="1295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1485" y="3852862"/>
            <a:ext cx="3099494" cy="1295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1480" y="3852862"/>
            <a:ext cx="3099494" cy="1295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9610" y="2605087"/>
            <a:ext cx="2623244" cy="5810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49605" y="2605087"/>
            <a:ext cx="2623244" cy="5810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9610" y="4090987"/>
            <a:ext cx="2623244" cy="581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49605" y="4090987"/>
            <a:ext cx="2623244" cy="5810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1025" y="3098452"/>
            <a:ext cx="4472433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F8FAFC"/>
                </a:solidFill>
                <a:latin typeface="Plus Jakarta Sans"/>
              </a:rPr>
              <a:t>Operational Baseline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1025" y="3593752"/>
            <a:ext cx="425946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94A3B8"/>
                </a:solidFill>
                <a:latin typeface="Plus Jakarta Sans"/>
              </a:rPr>
              <a:t>The primary KPI indicators synthesized across the food delivery ordering dataset showcase key business volumes and average fulfillment scores.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59610" y="3243262"/>
            <a:ext cx="2623244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94A3B8"/>
                </a:solidFill>
                <a:latin typeface="Plus Jakarta Sans Medium"/>
              </a:rPr>
              <a:t>Total Orders Processed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49605" y="3243262"/>
            <a:ext cx="2623244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94A3B8"/>
                </a:solidFill>
                <a:latin typeface="Plus Jakarta Sans Medium"/>
              </a:rPr>
              <a:t>Total Generated Revenue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59610" y="4729162"/>
            <a:ext cx="2623244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94A3B8"/>
                </a:solidFill>
                <a:latin typeface="Plus Jakarta Sans Medium"/>
              </a:rPr>
              <a:t>Average Rating (out of 5)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49605" y="4729162"/>
            <a:ext cx="2623244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94A3B8"/>
                </a:solidFill>
                <a:latin typeface="Plus Jakarta Sans Medium"/>
              </a:rPr>
              <a:t>Major Cities Covered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1025" y="485775"/>
            <a:ext cx="11581447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F8FAFC"/>
                </a:solidFill>
                <a:latin typeface="Plus Jakarta Sans"/>
              </a:rPr>
              <a:t>Executive Metrics Summary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1025" y="914400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" y="1143000"/>
            <a:ext cx="11029950" cy="52292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2363092"/>
            <a:ext cx="1102995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94A3B8"/>
                </a:solidFill>
                <a:latin typeface="Plus Jakarta Sans"/>
              </a:rPr>
              <a:t>Cumulative delivery fulfillment duration (in minutes) across top metro regions analyzed in Power BI: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25" y="485775"/>
            <a:ext cx="11581447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F8FAFC"/>
                </a:solidFill>
                <a:latin typeface="Plus Jakarta Sans"/>
              </a:rPr>
              <a:t>Delivery Time by City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1025" y="914400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0718" y="2424112"/>
            <a:ext cx="2667000" cy="2667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27106" y="2662386"/>
            <a:ext cx="3070383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8FAFC"/>
                </a:solidFill>
                <a:latin typeface="Plus Jakarta Sans"/>
              </a:rPr>
              <a:t>Top Regional Hubs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17031" y="3490912"/>
            <a:ext cx="71437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0" i="0" u="none">
                <a:solidFill>
                  <a:srgbClr val="F8FAFC"/>
                </a:solidFill>
                <a:latin typeface="Plus Jakarta Sans ExtraBold"/>
              </a:rPr>
              <a:t>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17031" y="3871912"/>
            <a:ext cx="7143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94A3B8"/>
                </a:solidFill>
                <a:latin typeface="Plus Jakarta Sans"/>
              </a:rPr>
              <a:t>Total Orders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4284" y="3099569"/>
            <a:ext cx="2924175" cy="1980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 dirty="0">
                <a:solidFill>
                  <a:srgbClr val="CBD5E1"/>
                </a:solidFill>
                <a:latin typeface="Plus Jakarta Sans"/>
              </a:rPr>
              <a:t>Kolkata: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9 Orders (17.65%)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4283" y="3490987"/>
            <a:ext cx="2924175" cy="1980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 dirty="0">
                <a:solidFill>
                  <a:srgbClr val="CBD5E1"/>
                </a:solidFill>
                <a:latin typeface="Plus Jakarta Sans"/>
              </a:rPr>
              <a:t>Chennai: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8 Orders (15.69%)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4284" y="3849067"/>
            <a:ext cx="2924175" cy="1980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 dirty="0">
                <a:solidFill>
                  <a:srgbClr val="CBD5E1"/>
                </a:solidFill>
                <a:latin typeface="Plus Jakarta Sans"/>
              </a:rPr>
              <a:t>Bengaluru: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7 Orders (13.73%)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4281" y="4231927"/>
            <a:ext cx="2924175" cy="1980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 dirty="0">
                <a:solidFill>
                  <a:srgbClr val="CBD5E1"/>
                </a:solidFill>
                <a:latin typeface="Plus Jakarta Sans"/>
              </a:rPr>
              <a:t>Jaipur &amp; Lucknow: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12 Orders (23.5%)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4282" y="4631903"/>
            <a:ext cx="2924175" cy="1980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 dirty="0">
                <a:solidFill>
                  <a:srgbClr val="CBD5E1"/>
                </a:solidFill>
                <a:latin typeface="Plus Jakarta Sans"/>
              </a:rPr>
              <a:t>Other Cities:</a:t>
            </a:r>
            <a:r>
              <a:rPr sz="1200" b="0" i="0" u="none" dirty="0">
                <a:solidFill>
                  <a:srgbClr val="CBD5E1"/>
                </a:solidFill>
                <a:latin typeface="Plus Jakarta Sans"/>
              </a:rPr>
              <a:t> 15 Orders (29.4%)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27106" y="3146226"/>
            <a:ext cx="152400" cy="152400"/>
          </a:xfrm>
          <a:prstGeom prst="roundRect">
            <a:avLst>
              <a:gd name="adj" fmla="val 25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327106" y="3523357"/>
            <a:ext cx="152400" cy="152400"/>
          </a:xfrm>
          <a:prstGeom prst="roundRect">
            <a:avLst>
              <a:gd name="adj" fmla="val 25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327106" y="3900487"/>
            <a:ext cx="152400" cy="152400"/>
          </a:xfrm>
          <a:prstGeom prst="roundRect">
            <a:avLst>
              <a:gd name="adj" fmla="val 25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327106" y="4277617"/>
            <a:ext cx="152400" cy="152400"/>
          </a:xfrm>
          <a:prstGeom prst="roundRect">
            <a:avLst>
              <a:gd name="adj" fmla="val 25000"/>
            </a:avLst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327106" y="4654748"/>
            <a:ext cx="152400" cy="152400"/>
          </a:xfrm>
          <a:prstGeom prst="roundRect">
            <a:avLst>
              <a:gd name="adj" fmla="val 25000"/>
            </a:avLst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81025" y="485775"/>
            <a:ext cx="11581447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F8FAFC"/>
                </a:solidFill>
                <a:latin typeface="Plus Jakarta Sans"/>
              </a:rPr>
              <a:t>Order Share by Geography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1025" y="914400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581025" y="2257425"/>
            <a:ext cx="11029950" cy="3000375"/>
          </a:xfrm>
          <a:prstGeom prst="roundRect">
            <a:avLst>
              <a:gd name="adj" fmla="val 0"/>
            </a:avLst>
          </a:prstGeom>
          <a:solidFill>
            <a:srgbClr val="1E29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81025" y="2257425"/>
          <a:ext cx="11020422" cy="3000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12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5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73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658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0062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97316"/>
                          </a:solidFill>
                          <a:latin typeface="Plus Jakarta Sans"/>
                        </a:rPr>
                        <a:t>Field Name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97316"/>
                          </a:solidFill>
                          <a:latin typeface="Plus Jakarta Sans"/>
                        </a:rPr>
                        <a:t>Data Type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97316"/>
                          </a:solidFill>
                          <a:latin typeface="Plus Jakarta Sans"/>
                        </a:rPr>
                        <a:t>Role / Structure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97316"/>
                          </a:solidFill>
                          <a:latin typeface="Plus Jakarta Sans"/>
                        </a:rPr>
                        <a:t>Business Context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062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Order ID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Text / Key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Primary Dimension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Unique transaction code for tracking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062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Order Value / Revenue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Decimal Currency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Fact / Aggregation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Base measure for Total Revenue ($27K)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062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Delivery Time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Integer (Minutes)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Fact Metric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Logistics speed tracking across cities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062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Rating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Decimal (1.0 - 5.0)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Fact Metric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Customer feedback score calculation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0065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Revenue Growth 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Percentage Measure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DAX Time Intelligence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Period-over-period revenue change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85787" y="2767012"/>
            <a:ext cx="242128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007072" y="2767012"/>
            <a:ext cx="230594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313015" y="2767012"/>
            <a:ext cx="242738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40401" y="2767012"/>
            <a:ext cx="386581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85787" y="3262312"/>
            <a:ext cx="242128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007072" y="3262312"/>
            <a:ext cx="230594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313015" y="3262312"/>
            <a:ext cx="242738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740401" y="3262312"/>
            <a:ext cx="386581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85787" y="3757612"/>
            <a:ext cx="242128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007072" y="3757612"/>
            <a:ext cx="230594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313015" y="3757612"/>
            <a:ext cx="242738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740401" y="3757612"/>
            <a:ext cx="386581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85787" y="4252912"/>
            <a:ext cx="242128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007072" y="4252912"/>
            <a:ext cx="230594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313015" y="4252912"/>
            <a:ext cx="242738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740401" y="4252912"/>
            <a:ext cx="386581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85787" y="4748212"/>
            <a:ext cx="242128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007072" y="4748212"/>
            <a:ext cx="230594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313015" y="4748212"/>
            <a:ext cx="242738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740401" y="4748212"/>
            <a:ext cx="386581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81025" y="485775"/>
            <a:ext cx="11581447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F8FAFC"/>
                </a:solidFill>
                <a:latin typeface="Plus Jakarta Sans"/>
              </a:rPr>
              <a:t>Power BI Model Schema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1025" y="914400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745581" y="2250876"/>
            <a:ext cx="6700837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0" i="0" u="none">
                <a:solidFill>
                  <a:srgbClr val="F8FAFC"/>
                </a:solidFill>
                <a:latin typeface="Plus Jakarta Sans ExtraBold"/>
              </a:rPr>
              <a:t>Questions &amp;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38500" y="3203376"/>
            <a:ext cx="5715000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0" u="none">
                <a:solidFill>
                  <a:srgbClr val="94A3B8"/>
                </a:solidFill>
                <a:latin typeface="Plus Jakarta Sans"/>
              </a:rPr>
              <a:t>Thank you for reviewing our Food Delivery Analytics presentation built with Power BI, Power Query, and DAX.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0925" y="4159448"/>
            <a:ext cx="5010150" cy="4476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67150" y="4283273"/>
            <a:ext cx="1095375" cy="200025"/>
          </a:xfrm>
          <a:prstGeom prst="rect">
            <a:avLst/>
          </a:prstGeom>
          <a:noFill/>
        </p:spPr>
        <p:txBody>
          <a:bodyPr wrap="square" lIns="19050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38BDF8"/>
                </a:solidFill>
                <a:latin typeface="Plus Jakarta Sans SemiBold"/>
              </a:rPr>
              <a:t>Saad Shaikh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53025" y="4283273"/>
            <a:ext cx="952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38BDF8"/>
                </a:solidFill>
                <a:latin typeface="Plus Jakarta Sans SemiBold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38775" y="4283273"/>
            <a:ext cx="11049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38BDF8"/>
                </a:solidFill>
                <a:latin typeface="Plus Jakarta Sans SemiBold"/>
              </a:rPr>
              <a:t>Rechal Parshee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34175" y="4283273"/>
            <a:ext cx="952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38BDF8"/>
                </a:solidFill>
                <a:latin typeface="Plus Jakarta Sans SemiBold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19925" y="4283273"/>
            <a:ext cx="13049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38BDF8"/>
                </a:solidFill>
                <a:latin typeface="Plus Jakarta Sans SemiBold"/>
              </a:rPr>
              <a:t>Soham Deshmukh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7150" y="4311848"/>
            <a:ext cx="190500" cy="152400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Mesh</Template>
  <TotalTime>44</TotalTime>
  <Words>571</Words>
  <Application>Microsoft Office PowerPoint</Application>
  <PresentationFormat>Widescreen</PresentationFormat>
  <Paragraphs>100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Arial</vt:lpstr>
      <vt:lpstr>Century Gothic</vt:lpstr>
      <vt:lpstr>JetBrains Mono</vt:lpstr>
      <vt:lpstr>JetBrains Mono SemiBold</vt:lpstr>
      <vt:lpstr>Plus Jakarta Sans</vt:lpstr>
      <vt:lpstr>Plus Jakarta Sans ExtraBold</vt:lpstr>
      <vt:lpstr>Plus Jakarta Sans Medium</vt:lpstr>
      <vt:lpstr>Plus Jakarta Sans SemiBold</vt:lpstr>
      <vt:lpstr>Mesh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soham deshmukh</cp:lastModifiedBy>
  <cp:revision>3</cp:revision>
  <dcterms:created xsi:type="dcterms:W3CDTF">2013-01-27T09:14:16Z</dcterms:created>
  <dcterms:modified xsi:type="dcterms:W3CDTF">2026-08-25T12:43:43Z</dcterms:modified>
  <cp:category/>
</cp:coreProperties>
</file>